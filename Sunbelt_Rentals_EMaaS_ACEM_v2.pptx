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50292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9244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9536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0412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0704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0996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1288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9536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10412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0704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0996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1288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9536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10412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0704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0996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61288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244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9828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0120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412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0704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0996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61288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9244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9828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0120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0412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0704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10996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61288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244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9536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9828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60120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0412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60704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10996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1288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9244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59536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9828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0120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10412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0704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0996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61288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244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9536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09828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60120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10412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0704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10996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61288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9244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59536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09828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60120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10412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60704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10996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61288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9244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59536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9828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60120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10412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60704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10996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61288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09244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59536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9828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60120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10412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0704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0996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61288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09244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59536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9828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60120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0412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0704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10996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61288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9244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59536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9828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60120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10412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60704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10996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61288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09244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59536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09828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10412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60704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10996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1288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8600" y="2560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7920"/>
                </a:solidFill>
                <a:latin typeface="Calibri"/>
              </a:rPr>
              <a:t>SUNBELT RENTALS  ·  POWER &amp; HVAC DIVISION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8600" y="640080"/>
            <a:ext cx="457200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8600" y="9601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Energy Management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8600" y="1783080"/>
            <a:ext cx="749807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47920"/>
                </a:solidFill>
                <a:latin typeface="Calibri"/>
              </a:rPr>
              <a:t>as a Service™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8600" y="2788920"/>
            <a:ext cx="502920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2860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0A0A0"/>
                </a:solidFill>
                <a:latin typeface="Calibri"/>
              </a:rPr>
              <a:t>Powering Construction's Clean Energy Future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28600" y="3749039"/>
            <a:ext cx="7132320" cy="13258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228600" y="3749039"/>
            <a:ext cx="50292" cy="13258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84048" y="3886200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PRESENTED TO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84048" y="42062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Association of Construction Equipment Managers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84048" y="459028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30–50 of the Nation's Largest Construction Contractors  ·  2026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1645920"/>
            <a:ext cx="3962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47920"/>
                </a:solidFill>
                <a:latin typeface="Calibri"/>
              </a:rPr>
              <a:t>950+</a:t>
            </a:r>
          </a:p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Locations</a:t>
            </a:r>
          </a:p>
          <a:p>
            <a:pPr algn="ctr"/>
            <a:r>
              <a:rPr sz="1000" b="0" i="0">
                <a:solidFill>
                  <a:srgbClr val="A0A0A0"/>
                </a:solidFill>
                <a:latin typeface="Calibri"/>
              </a:rPr>
              <a:t> </a:t>
            </a:r>
          </a:p>
          <a:p>
            <a:pPr algn="ctr"/>
            <a:r>
              <a:rPr sz="4200" b="1" i="0">
                <a:solidFill>
                  <a:srgbClr val="F47920"/>
                </a:solidFill>
                <a:latin typeface="Calibri"/>
              </a:rPr>
              <a:t>#1</a:t>
            </a:r>
          </a:p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BESS Fleet — N. America</a:t>
            </a:r>
          </a:p>
          <a:p>
            <a:pPr algn="ctr"/>
            <a:r>
              <a:rPr sz="1000" b="0" i="0">
                <a:solidFill>
                  <a:srgbClr val="A0A0A0"/>
                </a:solidFill>
                <a:latin typeface="Calibri"/>
              </a:rPr>
              <a:t> </a:t>
            </a:r>
          </a:p>
          <a:p>
            <a:pPr algn="ctr"/>
            <a:r>
              <a:rPr sz="4200" b="1" i="0">
                <a:solidFill>
                  <a:srgbClr val="F47920"/>
                </a:solidFill>
                <a:latin typeface="Calibri"/>
              </a:rPr>
              <a:t>40+</a:t>
            </a:r>
          </a:p>
          <a:p>
            <a:pPr algn="ctr"/>
            <a:r>
              <a:rPr sz="1200" b="0" i="0">
                <a:solidFill>
                  <a:srgbClr val="A0A0A0"/>
                </a:solidFill>
                <a:latin typeface="Calibri"/>
              </a:rPr>
              <a:t>Years of Innovation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TODAY'S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A structured journey through Sunbelt's energy management capabilities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19072"/>
            <a:ext cx="557784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75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93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47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Sunbelt Rentals at a Glance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95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Scale · capabilities · market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719072"/>
            <a:ext cx="557784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975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947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The Energy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295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What's disrupting construction power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62072"/>
            <a:ext cx="557784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18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136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090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Complete Power &amp; HVAC Portfolio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38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Generators · BESS · HVAC · Distribution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2862072"/>
            <a:ext cx="557784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3118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136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090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Energy Management as a Service™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438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The managed power ecosystem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005072"/>
            <a:ext cx="557784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4261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279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33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Hybrid Power &amp; Microgrid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581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Generator + BESS architecture &amp; control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05072"/>
            <a:ext cx="557784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4261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279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233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Proven Results — Case Study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581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Real metrics from a hyperscale data center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5148072"/>
            <a:ext cx="557784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5404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422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376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Sustainability &amp; ESG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" y="5724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Carbon pathways and reporting capabilities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148072"/>
            <a:ext cx="5577840" cy="1024128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5080" y="5404104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55080" y="5422392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3766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Partnership &amp; Next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72414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How to engage with the Sunbelt team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53328" y="1627632"/>
            <a:ext cx="36576" cy="493776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1969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67167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14639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62111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09583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5705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04527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1999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99471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46943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9441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41886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19695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7167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14639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62111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9583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57055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04527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1999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471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46943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94415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41886" y="62179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19695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67167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14639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62111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9583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57055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04527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51999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99471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46943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94415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41886" y="10607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19695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167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14639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662111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09583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57055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704527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051999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399471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746943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094415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41886" y="14996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619695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67167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14639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62111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09583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57055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04527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051999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99471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46943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94415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441886" y="19385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619695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67167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314639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662111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009583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357055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704527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051999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99471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746943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94415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441886" y="237744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619695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967167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14639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662111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09583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357055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704527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051999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399471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746943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94415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441886" y="2816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8600" y="2011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WHO WE ARE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600" y="548640"/>
            <a:ext cx="8229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Sunbelt Rentals at a Glance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1325880"/>
            <a:ext cx="822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8600" y="14630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  <a:latin typeface="Calibri"/>
              </a:rPr>
              <a:t>Four decades of equipment excellence — now the intelligence layer that makes temporary power truly work.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2103120"/>
            <a:ext cx="2834640" cy="15087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8600" y="2103120"/>
            <a:ext cx="50292" cy="15087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1480" y="2212848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950+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2971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Locations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11480" y="33375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U.S. &amp; Canada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46120" y="2103120"/>
            <a:ext cx="2834640" cy="15087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246120" y="2103120"/>
            <a:ext cx="50292" cy="15087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29000" y="2212848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#1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29000" y="2971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BESS Fleet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429000" y="33375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In North America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63640" y="2103120"/>
            <a:ext cx="2834640" cy="15087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263640" y="2103120"/>
            <a:ext cx="50292" cy="15087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46520" y="2212848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14K+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46520" y="2971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Equipment Types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46520" y="33375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Comprehensive portfolio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281159" y="2103120"/>
            <a:ext cx="2834640" cy="15087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81159" y="2103120"/>
            <a:ext cx="50292" cy="150876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464039" y="2212848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40+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64039" y="29718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Years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64039" y="33375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Founded 1983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28600" y="3822191"/>
            <a:ext cx="11734495" cy="3657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28600" y="3931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ENTERPRISE PROFILE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8600" y="437083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7920"/>
                </a:solidFill>
                <a:latin typeface="Calibri"/>
              </a:rPr>
              <a:t>Parent Company 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20240" y="437083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Ashtead Group plc — London Stock Exchange, $26B+ global enterprise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8600" y="488289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7920"/>
                </a:solidFill>
                <a:latin typeface="Calibri"/>
              </a:rPr>
              <a:t>Capabilities  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920240" y="48828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Power Generation · BESS · HVAC · Climate Control · Distribution Engineering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28600" y="539496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7920"/>
                </a:solidFill>
                <a:latin typeface="Calibri"/>
              </a:rPr>
              <a:t>Technology 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920240" y="539496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EMaaS™ · DEIF Controller Ecosystem · Real-time Telematics · Load Profiling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28600" y="59070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7920"/>
                </a:solidFill>
                <a:latin typeface="Calibri"/>
              </a:rPr>
              <a:t>Sustainability  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920240" y="590702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Tier 4 Final fleet · BESS hybrid proven · HVO-compatible · Carbon reporting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THE 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The Energy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Five forces reshaping how top contractors manage temporary 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719072"/>
            <a:ext cx="7955279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719072"/>
            <a:ext cx="50292" cy="8686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874520"/>
            <a:ext cx="548640" cy="5486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892808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920"/>
                </a:solidFill>
                <a:latin typeface="Calibri"/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97510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8105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Unpredictable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7627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Loads swing 5:1 between startup surge and steady-state — legacy rental can't adapt.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706624"/>
            <a:ext cx="7955279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2706624"/>
            <a:ext cx="50292" cy="8686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862072"/>
            <a:ext cx="548640" cy="5486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880360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920"/>
                </a:solidFill>
                <a:latin typeface="Calibr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96265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7980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Fuel Waste &amp;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163824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Generators at 20–40% load run at worst-case efficiency — direct budget erosion.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694176"/>
            <a:ext cx="7955279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8600" y="3694176"/>
            <a:ext cx="50292" cy="8686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849624"/>
            <a:ext cx="548640" cy="5486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867912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920"/>
                </a:solidFill>
                <a:latin typeface="Calibri"/>
              </a:rPr>
              <a:t>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3950208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7856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ESG &amp; Scope 3 Mandates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151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Owners require Scope 3 carbon reporting. Power source decisions are now contractual.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681728"/>
            <a:ext cx="7955279" cy="868680"/>
          </a:xfrm>
          <a:prstGeom prst="rect">
            <a:avLst/>
          </a:prstGeom>
          <a:solidFill>
            <a:srgbClr val="FAFAFA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681728"/>
            <a:ext cx="50292" cy="8686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837176"/>
            <a:ext cx="548640" cy="5486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855464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920"/>
                </a:solidFill>
                <a:latin typeface="Calibri"/>
              </a:rPr>
              <a:t>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937760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47731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Maintenance Complexity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45920" y="513892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Multi-vendor fragmentation and 24/7 operations drain technical teams and schedules.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5669280"/>
            <a:ext cx="7955279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5669280"/>
            <a:ext cx="50292" cy="86868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824728"/>
            <a:ext cx="548640" cy="54864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843016"/>
            <a:ext cx="548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7920"/>
                </a:solidFill>
                <a:latin typeface="Calibri"/>
              </a:rPr>
              <a:t>🏗️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92531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5760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Grid Infrastructure Gaps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61264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Utility upgrades average 3–6 months. Contractors need a complete interim strategy.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58200" y="1508760"/>
            <a:ext cx="3520440" cy="4937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58200" y="1508760"/>
            <a:ext cx="35204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MARKET CONTEXT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41080" y="2084831"/>
            <a:ext cx="3200400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96528" y="2176271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$8.3B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96528" y="2834639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US Power Rental
Market by 2030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41080" y="3566159"/>
            <a:ext cx="3200400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796528" y="3657599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62%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96528" y="4315967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Projects face power
capacity shortfalls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41080" y="5047487"/>
            <a:ext cx="3200400" cy="128016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96528" y="5138927"/>
            <a:ext cx="1371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40%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96528" y="5797295"/>
            <a:ext cx="2834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Generator runtime
at sub-optimal load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6249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4654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3059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1463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9868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8273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678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5083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3487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1892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0297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8702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62495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6543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0591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4639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98687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2735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66783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50831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34879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18927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02975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87023" y="5212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62495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6543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30591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14639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98687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2735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66783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50831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34879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18927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02975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87023" y="90525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62495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46543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30591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14639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98687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82735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66783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50831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34879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18927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002975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87023" y="128930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62495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46543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30591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14639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98687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82735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66783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50831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34879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18927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02975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387023" y="167335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2495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46543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30591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14639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698687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82735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66783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50831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34879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18927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02975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387023" y="205740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162495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46543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930591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14639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698687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82735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466783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50831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234879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18927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02975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387023" y="244144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62495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6543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30591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314639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698687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082735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466783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850831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234879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618927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1002975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1387023" y="28254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8600" y="2011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POWER &amp; HVAC PORTFOLIO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8600" y="54864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One Partner. Complete Energy Ecosystem.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8600" y="1261872"/>
            <a:ext cx="822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8600" y="138988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  <a:latin typeface="Calibri"/>
              </a:rPr>
              <a:t>Every component — engineered, monitored, and optimized by Sunbelt.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1901952"/>
            <a:ext cx="2267712" cy="4498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28600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228600" y="1952244"/>
            <a:ext cx="2267712" cy="8412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28600" y="1993392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⚡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5760" y="2862072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POWER
GENERATION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3529584"/>
            <a:ext cx="1993392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5760" y="3621024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2.5 kW – 2,000 kW+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65760" y="41148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Tier 4 Final diesel &amp; gas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65760" y="48006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Parallel multi-MW configs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5760" y="54864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Transfer switches &amp; load banks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624328" y="1901952"/>
            <a:ext cx="2267712" cy="4498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624328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624328" y="1952244"/>
            <a:ext cx="2267712" cy="8412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24328" y="1993392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🔋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61488" y="2862072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BATTERY
STORAGE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61488" y="3529584"/>
            <a:ext cx="1993392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761488" y="3621024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&lt;10 kWh – 750 kWh+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761488" y="41148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Trailer &amp; skid-mounted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61488" y="48006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Hybrid integration ready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61488" y="54864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Island mode &amp; grid sync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020056" y="1901952"/>
            <a:ext cx="2267712" cy="4498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020056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020056" y="1952244"/>
            <a:ext cx="2267712" cy="8412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020056" y="1993392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❄️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157216" y="2862072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HVAC &amp;
CLIMATE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57216" y="3529584"/>
            <a:ext cx="1993392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157216" y="3621024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7.5 – 500+ Tons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57216" y="41148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AC, chillers &amp; spot coolers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157216" y="48006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Heating all fuel types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157216" y="54864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Dehumidifiers &amp; scrubbers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415784" y="1901952"/>
            <a:ext cx="2267712" cy="4498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415784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415784" y="1952244"/>
            <a:ext cx="2267712" cy="8412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15784" y="1993392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🔌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552944" y="2862072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DISTRIBUTION
SYSTEMS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552944" y="3529584"/>
            <a:ext cx="1993392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552944" y="3621024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Full Design Service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552944" y="41148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Transformers &amp; switchgear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552944" y="48006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One-line schematics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552944" y="54864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Sub-metering &amp; protection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811512" y="1901952"/>
            <a:ext cx="2267712" cy="449884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811512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811512" y="1952244"/>
            <a:ext cx="2267712" cy="84124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811512" y="1993392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47920"/>
                </a:solidFill>
                <a:latin typeface="Calibri"/>
              </a:rPr>
              <a:t>📡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9948672" y="2862072"/>
            <a:ext cx="199339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EMaaS™
INTELLIGENCE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9948672" y="3529584"/>
            <a:ext cx="1993392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948672" y="3621024"/>
            <a:ext cx="1993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Proprietary Platform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948672" y="41148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Real-time telematics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948672" y="48006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Load profiling &amp; analytics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948672" y="5486400"/>
            <a:ext cx="199339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24/7 NOC monitoring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POWER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Generator Fleet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2.5 kW to 2,000 kW+ — Tier 4 Final · Paralleling-ready · EMaaS™ integrated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" y="1719072"/>
            <a:ext cx="2267712" cy="4828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664208"/>
            <a:ext cx="2267712" cy="4828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664208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714500"/>
            <a:ext cx="226771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5564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PORTABLE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14016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7920"/>
                </a:solidFill>
                <a:latin typeface="Calibri"/>
              </a:rPr>
              <a:t>2.5–10 kW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27248"/>
            <a:ext cx="199339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6440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Gas-powered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922776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Job-site tools &amp; lighting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581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Fast, flexible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9192" y="1719072"/>
            <a:ext cx="2267712" cy="4828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24328" y="1664208"/>
            <a:ext cx="2267712" cy="4828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24328" y="1664208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24328" y="1714500"/>
            <a:ext cx="226771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61488" y="175564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414016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7920"/>
                </a:solidFill>
                <a:latin typeface="Calibri"/>
              </a:rPr>
              <a:t>20–60 kW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3127248"/>
            <a:ext cx="199339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1488" y="326440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Diesel Tier 4 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3922776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Trailers &amp; small sites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4581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ATS-ready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1719072"/>
            <a:ext cx="2267712" cy="4828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0056" y="1664208"/>
            <a:ext cx="2267712" cy="4828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0056" y="1664208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0056" y="1714500"/>
            <a:ext cx="226771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57216" y="175564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57216" y="2414016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7920"/>
                </a:solidFill>
                <a:latin typeface="Calibri"/>
              </a:rPr>
              <a:t>100–350 kW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57216" y="3127248"/>
            <a:ext cx="199339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57216" y="326440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Sound-attenuated housing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216" y="3922776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Building-level coverage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7216" y="4581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Critical load support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0648" y="1719072"/>
            <a:ext cx="2267712" cy="4828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15784" y="1664208"/>
            <a:ext cx="2267712" cy="4828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415784" y="1664208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15784" y="1714500"/>
            <a:ext cx="226771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52944" y="175564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LARGE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52944" y="2414016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7920"/>
                </a:solidFill>
                <a:latin typeface="Calibri"/>
              </a:rPr>
              <a:t>400–800 kW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52944" y="3127248"/>
            <a:ext cx="199339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2944" y="326440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Paralleling-ready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52944" y="3922776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Campus &amp; campus backup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52944" y="4581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Hospital &amp; mission-critical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66376" y="1719072"/>
            <a:ext cx="2267712" cy="48280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11512" y="1664208"/>
            <a:ext cx="2267712" cy="48280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811512" y="1664208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11512" y="1714500"/>
            <a:ext cx="2267712" cy="6217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48672" y="1755648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INDUSTRIAL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48672" y="2414016"/>
            <a:ext cx="19933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47920"/>
                </a:solidFill>
                <a:latin typeface="Calibri"/>
              </a:rPr>
              <a:t>1,000–2,000kW+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48672" y="3127248"/>
            <a:ext cx="1993392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48672" y="3264408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Multi-unit parallel configs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8672" y="3922776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Grid-scale temporary power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48672" y="4581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Data center &amp; utility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8600" y="6400800"/>
            <a:ext cx="11734495" cy="54864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✔  Tier 4 Final Compliant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24328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✔  Parallel Configurations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0056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✔  Automated Transfer Switches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15784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✔  DEIF Controller Standard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11512" y="6263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6B6B"/>
                </a:solidFill>
                <a:latin typeface="Calibri"/>
              </a:rPr>
              <a:t>✔  24/7 Remote Telematics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70529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052767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00239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47711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95183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4265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90127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37599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85071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832543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8001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527486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874959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222431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05295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52767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0239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47711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183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42655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90127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37599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85071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32543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180015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27486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74959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222431" y="640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5295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52767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0239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47711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95183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42655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90127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37599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85071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32543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80015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27486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874959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222431" y="10972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05295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52767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00239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47711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95183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42655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90127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137599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85071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32543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80015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527486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74959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22431" y="15544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05295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52767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00239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47711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95183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42655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90127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37599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85071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32543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80015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27486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74959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222431" y="20116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295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052767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00239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47711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095183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42655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790127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137599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485071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32543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180015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527486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874959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222431" y="2468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705295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052767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400239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47711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95183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442655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790127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137599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485071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832543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180015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527486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874959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222431" y="29260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286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BATTERY ENERGY STORAGE  ·  NORTH AMERICA'S LARGEST BESS RENTAL FLEET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8600" y="54864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Store. Dispatch. Optimize.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1261872"/>
            <a:ext cx="822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8600" y="138988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  <a:latin typeface="Calibri"/>
              </a:rPr>
              <a:t>From load-leveling a single generator to anchoring a multi-MW microgrid.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1920240"/>
            <a:ext cx="2834640" cy="4434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228600" y="1920240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28600" y="1970532"/>
            <a:ext cx="2834640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5760" y="201168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&lt;10 kWh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5760" y="2633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Compact Unit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5760" y="2999232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65760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Portable · Fast deploy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5760" y="39593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Standalone operation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476402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Tool &amp; lighting support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46120" y="1920240"/>
            <a:ext cx="2834640" cy="4434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246120" y="1920240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246120" y="1970532"/>
            <a:ext cx="2834640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383280" y="201168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80–100 kWh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83280" y="2633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Standard Mobile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383280" y="2999232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383280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Trailer-mounted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383280" y="39593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Single generator pairing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383280" y="476402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Medium load leveling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263640" y="1920240"/>
            <a:ext cx="2834640" cy="4434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263640" y="1920240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263640" y="1970532"/>
            <a:ext cx="2834640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00800" y="201168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100–300 kWh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400800" y="2633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High Capacity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400800" y="2999232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400800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Multiple generator sync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0" y="39593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Island mode capable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400800" y="476402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Grid synchronization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9281159" y="1920240"/>
            <a:ext cx="2834640" cy="4434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281159" y="1920240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9281159" y="1970532"/>
            <a:ext cx="2834640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418319" y="2011680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500–750 kWh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418319" y="26334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Industrial Scale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418319" y="2999232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418319" y="315468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Multi-unit parallel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418319" y="395935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Mission-critical backup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418319" y="4764024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▸  Microgrid anchor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HVAC &amp; CLIMATE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Complete Thermal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7.5-Ton to 500-Ton+ · Any environment · Any duration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" y="1773936"/>
            <a:ext cx="3767328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719072"/>
            <a:ext cx="3767328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719072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8470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562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Air Conditioning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40279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7.5–135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2615184"/>
            <a:ext cx="343814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27432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Portable &amp; trailer-mounted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321868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Spot coolers &amp; packaged units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1773936"/>
            <a:ext cx="3767328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24528" y="1719072"/>
            <a:ext cx="3767328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24528" y="1719072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18470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18562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Chillers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01768" y="2240279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10–500+ Ton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615184"/>
            <a:ext cx="343814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7432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Air &amp; water-cooled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21868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Process-grade temperature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84464" y="1773936"/>
            <a:ext cx="3767328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719072"/>
            <a:ext cx="3767328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719072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18470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1856232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Heating Systems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240279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All Fuel Types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94192" y="2615184"/>
            <a:ext cx="343814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2743200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Electric · Direct-fired · Indirect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3218688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Hydronic heating solutions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" y="4279392"/>
            <a:ext cx="3767328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4224528"/>
            <a:ext cx="3767328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4224528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3525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361688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Ventilation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745735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Industrial Grade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" y="5120640"/>
            <a:ext cx="343814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" y="524865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Axial &amp; centrifugal fans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3192" y="572414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Confined space &amp; smoke extraction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9392" y="4279392"/>
            <a:ext cx="3767328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24528" y="4224528"/>
            <a:ext cx="3767328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24528" y="4224528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43525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01768" y="4361688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Dehumidification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01768" y="4745735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Commercial Scale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5120640"/>
            <a:ext cx="343814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524865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Construction &amp; restoration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72414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Moisture-critical environments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84464" y="4279392"/>
            <a:ext cx="3767328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600" y="4224528"/>
            <a:ext cx="3767328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229600" y="4224528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94192" y="43525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4361688"/>
            <a:ext cx="2852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Air Handlers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4745735"/>
            <a:ext cx="28529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Custom Configs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94192" y="5120640"/>
            <a:ext cx="343814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94192" y="5248656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Filtered fresh-air systems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94192" y="5724144"/>
            <a:ext cx="3438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▸  Air quality management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8837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9985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1133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2281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13429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4577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5725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6873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780215" y="18288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689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8837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9985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1133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72281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3429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4577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5725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36873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780215" y="56692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689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8837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9985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1133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2281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3429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54577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95725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6873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780215" y="95097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689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8837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9985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1133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2281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3429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4577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95725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36873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780215" y="133502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7689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8837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9985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1133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2281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13429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54577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95725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36873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780215" y="1719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7689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8837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9985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31133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72281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13429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54577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95725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36873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80215" y="21031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7689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8837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9985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31133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2281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13429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54577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95725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36873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780215" y="248716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07689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8837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89985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31133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72281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13429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54577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95725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136873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780215" y="287121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4320" y="182880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47920"/>
                </a:solidFill>
                <a:latin typeface="Calibri"/>
              </a:rPr>
              <a:t>— SECTION 04 —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2286000"/>
            <a:ext cx="8686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From transactional rental to a fully managed, data-driven power ecosystem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74320" y="4114800"/>
            <a:ext cx="320040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74320" y="42519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A0"/>
                </a:solidFill>
                <a:latin typeface="Calibri"/>
              </a:rPr>
              <a:t>Proprietary EMaaS™ platform · DEIF controller ecosystem · 24/7 intelligence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489204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0A0"/>
                </a:solidFill>
                <a:latin typeface="Calibri"/>
              </a:rPr>
              <a:t>Energy Management
as a Service™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EMaaS™ DEFINED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What Is Energy Management as a Service?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389888"/>
            <a:ext cx="11750040" cy="8412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89888"/>
            <a:ext cx="50292" cy="84124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81328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"EMaaS™ treats temporary power as a complete managed ecosystem — monitored, optimized, and actively
adjusted to meet operational requirements as they change in real time."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242316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6B6B"/>
                </a:solidFill>
                <a:latin typeface="Calibri"/>
              </a:rPr>
              <a:t>TRADITIONAL RENTAL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231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920"/>
                </a:solidFill>
                <a:latin typeface="Calibri"/>
              </a:rPr>
              <a:t>EMaaS™  BY SUNBELT RENTALS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788920"/>
            <a:ext cx="51663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88920"/>
            <a:ext cx="5394960" cy="2743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852928"/>
            <a:ext cx="516636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2852928"/>
            <a:ext cx="5394960" cy="530352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96265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✘  Reactive — deployed and forgotten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9626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✔  Proactive — continuous optimization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438144"/>
            <a:ext cx="5166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3438144"/>
            <a:ext cx="53949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47872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✘  One-size-fits-all sizing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5478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✔  Load profiling → right-sized solution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023360"/>
            <a:ext cx="516636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4023360"/>
            <a:ext cx="5394960" cy="530352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133088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✘  Fuel cost is a fixed expense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13308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✔  Active fuel management with BESS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4608576"/>
            <a:ext cx="5166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4608576"/>
            <a:ext cx="53949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718304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✘  Fix on failure or fixed schedule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7183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✔  Predictive maintenance via telematics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5193792"/>
            <a:ext cx="5166360" cy="530352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0" y="5193792"/>
            <a:ext cx="5394960" cy="530352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303520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✘  Multiple vendors, split 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5303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✔  Single partner, end-to-end ownership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5779008"/>
            <a:ext cx="51663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0" y="5779008"/>
            <a:ext cx="53949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888736"/>
            <a:ext cx="4892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✘  No performance data visibility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588873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✔  Real-time dashboards &amp; ESG reporting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94960" y="2423160"/>
            <a:ext cx="1188720" cy="37307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4960" y="4114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47920"/>
                </a:solidFill>
                <a:latin typeface="Calibri"/>
              </a:rPr>
              <a:t>vs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EMaaS™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How EMaaS™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The four-stage managed power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657600"/>
            <a:ext cx="10241280" cy="4572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" y="1627632"/>
            <a:ext cx="2834640" cy="19202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68249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ASSESS &amp;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194560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Load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" y="2532888"/>
            <a:ext cx="2505456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5608" y="3493008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3401568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419856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5608" y="3904487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" y="4169664"/>
            <a:ext cx="2834640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8600" y="4114800"/>
            <a:ext cx="283464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4251960"/>
            <a:ext cx="250545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We analyze actual demand patterns — not estimated peaks. Load profiles, voltage requirements, and efficiency opportunities are documented before any equipment is selected.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00984" y="1627632"/>
            <a:ext cx="2834640" cy="19202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46120" y="1572768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46120" y="1572768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10712" y="168249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DESIGN &amp; ENGINEER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0712" y="2194560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Right-Sized Solution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10712" y="2532888"/>
            <a:ext cx="2505456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53128" y="3493008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401568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419856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3128" y="3904487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00984" y="4169664"/>
            <a:ext cx="2834640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46120" y="4114800"/>
            <a:ext cx="283464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10712" y="4251960"/>
            <a:ext cx="250545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Engineers develop a complete energy architecture: generator sizing, BESS integration, distribution layout, transfer schemes, and redundancy design — with one-line schematics.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18504" y="1627632"/>
            <a:ext cx="2834640" cy="19202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1572768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1572768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168249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DEPLOY &amp; INTEGRATE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2" y="2194560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Expert Commissioning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8232" y="2532888"/>
            <a:ext cx="2505456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70648" y="3493008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69480" y="3401568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9480" y="3419856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70648" y="3904487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18504" y="4169664"/>
            <a:ext cx="2834640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63640" y="4114800"/>
            <a:ext cx="283464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2" y="4251960"/>
            <a:ext cx="250545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Factory-tested equipment delivered and installed by certified technicians. Full parallel testing, integration checks, and grid synchronization completed before go-live.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36023" y="1627632"/>
            <a:ext cx="2834640" cy="19202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81159" y="1572768"/>
            <a:ext cx="2834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281159" y="1572768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5751" y="1682496"/>
            <a:ext cx="250545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MONITOR &amp; OPTIMIZE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45751" y="2194560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Continuous Intelligence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45751" y="2532888"/>
            <a:ext cx="2505456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88167" y="3493008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86999" y="3401568"/>
            <a:ext cx="502920" cy="5029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286999" y="3419856"/>
            <a:ext cx="5029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488167" y="3904487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36023" y="4169664"/>
            <a:ext cx="2834640" cy="2304288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281159" y="4114800"/>
            <a:ext cx="2834640" cy="23042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45751" y="4251960"/>
            <a:ext cx="250545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DEIF telematics track fuel, load, voltage, and efficiency 24/7. Machine intelligence handles routine optimization; specialists manage complexity and escalations.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0257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8662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7067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5471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3876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2281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10686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9091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7495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25900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02575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6623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0671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54719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8767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22815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106863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90911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874959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259007" y="57607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02575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6623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0671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54719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38767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22815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06863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90911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874959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59007" y="101498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02575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6623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70671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54719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338767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22815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106863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490911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74959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259007" y="1453896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02575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6623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70671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54719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338767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22815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06863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90911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874959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259007" y="1892808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02575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86623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70671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54719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338767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22815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106863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490911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874959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259007" y="233172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02575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86623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70671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954719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38767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722815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106863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90911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874959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259007" y="2770632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02575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186623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70671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954719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338767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722815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106863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90911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874959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1259007" y="3209544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86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TECHNOLOGY PLATFORM  ·  THE INTELLIGENCE BEHIND EMaaS™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8600" y="54864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Powered by Data. Managed by Experts.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1261872"/>
            <a:ext cx="822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8600" y="138988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  <a:latin typeface="Calibri"/>
              </a:rPr>
              <a:t>Real-time visibility and active optimization across every asset in the fleet.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" y="1901952"/>
            <a:ext cx="2834640" cy="44805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28600" y="1901952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28600" y="1952244"/>
            <a:ext cx="2834640" cy="7772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5760" y="19933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DEIF CONTROLLER
ECOSYSTEM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2798064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AGC-4 Mk II — daily fleet standard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5760" y="3584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AGC-150 — generator &amp; BESS management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424281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TDU107 — co-developed touch display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65760" y="49011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Consistent across entire rental portfolio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65760" y="55595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Parallel · island mode · Tier 4 control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46120" y="1901952"/>
            <a:ext cx="2834640" cy="44805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246120" y="1901952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246120" y="1952244"/>
            <a:ext cx="2834640" cy="7772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83280" y="19933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REAL-TIME
TELEMATICS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0" y="2798064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38328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Continuous fuel consumption tracking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83280" y="3584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Load demand &amp; efficiency monitoring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383280" y="424281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Voltage stability &amp; frequency control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83280" y="49011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Predictive maintenance alerting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383280" y="55595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Remote load management capability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63640" y="1901952"/>
            <a:ext cx="2834640" cy="44805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263640" y="1901952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263640" y="1952244"/>
            <a:ext cx="2834640" cy="7772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00800" y="19933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LOAD PROFILING
&amp; ANALYTICS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00800" y="2798064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0080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Actual vs. estimated demand analysis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3584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Peak/off-peak pattern identification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0" y="424281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Right-sizing recommendations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0" y="49011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Efficiency opportunity mapping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400800" y="55595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Carbon reduction quantification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281159" y="1901952"/>
            <a:ext cx="2834640" cy="448056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281159" y="1901952"/>
            <a:ext cx="283464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81159" y="1952244"/>
            <a:ext cx="2834640" cy="77724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418319" y="199339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REPORTING &amp;
INTELLIGENCE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418319" y="2798064"/>
            <a:ext cx="256032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418319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Customer performance dashboards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418319" y="358444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Fuel &amp; cost reports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418319" y="4242816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Emissions tracking for ESG reporting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418319" y="490118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Maintenance event logs &amp; SLA docs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418319" y="555955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Scope 3 compliance support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HYBRID POWER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Generator + BESS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Smarter. Cleaner. Measurably more efficient.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99232"/>
            <a:ext cx="1755648" cy="14630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999232"/>
            <a:ext cx="175564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72384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GENERATOR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0507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0A0"/>
                </a:solidFill>
                <a:latin typeface="Calibri"/>
              </a:rPr>
              <a:t>2.5kW–2,000kW+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3707892"/>
            <a:ext cx="475488" cy="457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8336" y="35433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2999232"/>
            <a:ext cx="1755648" cy="14630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94760" y="2999232"/>
            <a:ext cx="1755648" cy="502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3072384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36576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Calibri"/>
              </a:rPr>
              <a:t>DEIF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00507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Active switching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50408" y="3707892"/>
            <a:ext cx="475488" cy="457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43016" y="35433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2999232"/>
            <a:ext cx="1755648" cy="14630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49440" y="2999232"/>
            <a:ext cx="175564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072384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6576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00507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0A0"/>
                </a:solidFill>
                <a:latin typeface="Calibri"/>
              </a:rPr>
              <a:t>&lt;10–750kWh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05088" y="3707892"/>
            <a:ext cx="475488" cy="4572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97696" y="3543300"/>
            <a:ext cx="228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920"/>
                </a:solidFill>
                <a:latin typeface="Calibri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04120" y="2999232"/>
            <a:ext cx="1755648" cy="14630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04120" y="2999232"/>
            <a:ext cx="175564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3072384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  <a:latin typeface="Calibri"/>
              </a:rPr>
              <a:t>🏗️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365760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SITE 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4005072"/>
            <a:ext cx="1572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A0A0A0"/>
                </a:solidFill>
                <a:latin typeface="Calibri"/>
              </a:rPr>
              <a:t>Dynamic demand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4681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HOW IT WORKS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029200"/>
            <a:ext cx="548640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8600" y="5138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1.  Generator runs → charges BESS while powering the 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55229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2.  Generator shuts down → BESS supplies load seamlessly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" y="59070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3.  Load exceeds BESS capacity → generator restarts automatically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" y="62910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4.  DEIF controller manages all switching — zero manual intervention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68172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PROVEN 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5029200"/>
            <a:ext cx="53949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1389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Fuel Reduction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413248"/>
            <a:ext cx="4389120" cy="1280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5413248"/>
            <a:ext cx="3599078" cy="12801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54512" y="536752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82%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669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Maintenance Cost Savings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943600"/>
            <a:ext cx="4389120" cy="1280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5943600"/>
            <a:ext cx="3291839" cy="12801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54512" y="589788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75%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61996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CO₂e Emissions Avoided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6473952"/>
            <a:ext cx="4389120" cy="128016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92240" y="6473952"/>
            <a:ext cx="3599078" cy="12801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54512" y="642823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920"/>
                </a:solidFill>
                <a:latin typeface="Calibri"/>
              </a:rPr>
              <a:t>82%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64465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920"/>
                </a:solidFill>
                <a:latin typeface="Calibri"/>
              </a:rPr>
              <a:t>34,026 gal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64465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920"/>
                </a:solidFill>
                <a:latin typeface="Calibri"/>
              </a:rPr>
              <a:t>$43,521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149840" y="6446520"/>
            <a:ext cx="1691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47920"/>
                </a:solidFill>
                <a:latin typeface="Calibri"/>
              </a:rPr>
              <a:t>130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6249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54654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3059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1463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9868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8273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6678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5083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23487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1892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00297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38702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62495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6543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0591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4639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98687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2735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66783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50831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34879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618927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002975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387023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62495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46543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30591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14639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98687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82735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66783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50831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234879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18927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002975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387023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62495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46543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30591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314639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98687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82735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66783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50831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234879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18927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002975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87023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62495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546543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30591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314639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98687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82735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66783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50831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234879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618927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002975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387023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162495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546543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30591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14639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698687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82735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466783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850831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234879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618927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002975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1387023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162495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546543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930591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314639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698687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082735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466783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850831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234879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618927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002975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1387023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86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MICROGRID SOLUTIONS  ·  ISLAND-MODE POWER ARCHITECTURE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8600" y="54864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Complete Temporary Microgrid Design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1261872"/>
            <a:ext cx="822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28600" y="13898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  <a:latin typeface="Calibri"/>
              </a:rPr>
              <a:t>When grid access is unavailable, unreliable, or insufficient — we engineer a complete independent ecosystem.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1901952"/>
            <a:ext cx="2267712" cy="44622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8600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93192" y="2066544"/>
            <a:ext cx="457200" cy="457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93192" y="208483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8408" y="2066544"/>
            <a:ext cx="13807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GENERATION
LAYER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93192" y="2770632"/>
            <a:ext cx="1938528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93192" y="29260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Multiple parallel generators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3192" y="3730752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Up to multi-MW capacity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93192" y="4535424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Auto load sharing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3192" y="5340096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N+1 redundancy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24328" y="1901952"/>
            <a:ext cx="2267712" cy="44622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2624328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788920" y="2066544"/>
            <a:ext cx="457200" cy="457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88920" y="208483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374136" y="2066544"/>
            <a:ext cx="13807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STORAGE
LAYER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788920" y="2770632"/>
            <a:ext cx="1938528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88920" y="29260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BESS arrays in parallel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788920" y="3730752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Peak shaving &amp; leveling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788920" y="4535424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Seamless source transition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788920" y="5340096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Configurable DOD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20056" y="1901952"/>
            <a:ext cx="2267712" cy="44622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020056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184648" y="2066544"/>
            <a:ext cx="457200" cy="457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184648" y="208483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69864" y="2066544"/>
            <a:ext cx="13807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DISTRIBUTION
LAYER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184648" y="2770632"/>
            <a:ext cx="1938528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184648" y="29260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MV/LV transformer stations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184648" y="3730752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Automated transfer schemes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84648" y="4535424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Switchgear &amp; protection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184648" y="5340096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Metering &amp; sub-metering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415784" y="1901952"/>
            <a:ext cx="2267712" cy="44622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415784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580376" y="2066544"/>
            <a:ext cx="457200" cy="457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580376" y="208483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165592" y="2066544"/>
            <a:ext cx="13807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RENEWABLE
INTEGRATION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580376" y="2770632"/>
            <a:ext cx="1938528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580376" y="29260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Solar PV synchronization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580376" y="3730752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Wind energy ready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580376" y="4535424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Fuel cell architecture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580376" y="5340096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Net-zero pathway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811512" y="1901952"/>
            <a:ext cx="2267712" cy="44622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9811512" y="1901952"/>
            <a:ext cx="2267712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9976104" y="2066544"/>
            <a:ext cx="457200" cy="4572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976104" y="208483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561320" y="2066544"/>
            <a:ext cx="138074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CONTROL
LAYER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976104" y="2770632"/>
            <a:ext cx="1938528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976104" y="2926080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DEIF master controller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976104" y="3730752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Remote SCADA visibility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976104" y="4535424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Demand response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976104" y="5340096"/>
            <a:ext cx="19385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Calibri"/>
              </a:rPr>
              <a:t>▸  Grid reconnect protocols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Hyperscale Data Center — EMaaS™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Hybrid BESS + Generator system over a 6-month construction 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54480"/>
            <a:ext cx="3886200" cy="4956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554480"/>
            <a:ext cx="50292" cy="495604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PROJECT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762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Project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17627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Hyperscale Data Center Construction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8620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286207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5478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54787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15 Parallel Generators + BESS Array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2336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Primary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23367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BESS — generators engage on demand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9194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91947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24/7 EMaaS™ telematics — DEIF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60527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Load 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605272"/>
            <a:ext cx="2212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1,000A peak → 200A steady-state (5:1 ratio)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264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0A0A0"/>
                </a:solidFill>
                <a:latin typeface="Calibri"/>
              </a:rPr>
              <a:t>"The BESS served as the primary power source with generators engaging only when load exceeded battery capacity or during recharge cycles."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1627632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MEASURED OUTCOMES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5968" y="1993392"/>
            <a:ext cx="76809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2084831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82%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28599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Fuel consumption reduction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15968" y="2798063"/>
            <a:ext cx="7406640" cy="914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15968" y="2798063"/>
            <a:ext cx="6073444" cy="914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15968" y="2980943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34,026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18211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Gallons of diesel NOT burned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3694175"/>
            <a:ext cx="7406640" cy="914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694175"/>
            <a:ext cx="7406640" cy="914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3877055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$43,521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078223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Maintenance cost savings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15968" y="4590287"/>
            <a:ext cx="7406640" cy="914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15968" y="4590287"/>
            <a:ext cx="5554979" cy="914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15968" y="4773167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130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4974335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Service calls eliminated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5968" y="5486399"/>
            <a:ext cx="7406640" cy="914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15968" y="5486399"/>
            <a:ext cx="5925312" cy="914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15968" y="5669279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47920"/>
                </a:solidFill>
                <a:latin typeface="Calibri"/>
              </a:rPr>
              <a:t>120 tons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870447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CO₂e emissions avoided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15968" y="6382511"/>
            <a:ext cx="7406640" cy="9144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15968" y="6382511"/>
            <a:ext cx="6073444" cy="9144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15968" y="6437376"/>
            <a:ext cx="7680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6094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4499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2903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1308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9713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8118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6523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4927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3332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6895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60943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4991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29039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13087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135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81183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65231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49279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3327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6895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60943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44991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29039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3087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97135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81183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65231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49279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33327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6895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60943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44991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29039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13087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97135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81183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65231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149279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533327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76895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60943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44991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29039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13087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97135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81183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65231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149279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533327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76895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60943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44991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29039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13087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97135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81183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65231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149279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533327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76895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60943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44991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29039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13087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97135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81183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65231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149279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33327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6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SUSTAINABILITY &amp; ESG  ·  MEASURABLE PATHWAYS TO NET ZERO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" y="54864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Your ESG Goals. Our Engineering.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1261872"/>
            <a:ext cx="822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8600" y="13898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  <a:latin typeface="Calibri"/>
              </a:rPr>
              <a:t>Every EMaaS™ deployment is tracked, quantified, and reportable for Scope 3 compliance.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1901952"/>
            <a:ext cx="2834640" cy="144475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8600" y="1901952"/>
            <a:ext cx="50292" cy="14447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20116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82%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27706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Max Fuel Reduction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31363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Documented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46120" y="1901952"/>
            <a:ext cx="2834640" cy="144475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246120" y="1901952"/>
            <a:ext cx="50292" cy="14447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29000" y="20116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120T+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29000" y="27706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CO₂e Per Project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429000" y="31363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Reportable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263640" y="1901952"/>
            <a:ext cx="2834640" cy="144475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63640" y="1901952"/>
            <a:ext cx="50292" cy="14447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46520" y="20116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#1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46520" y="27706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BESS Fleet N. Am.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46520" y="31363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Proven Scale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281159" y="1901952"/>
            <a:ext cx="2834640" cy="144475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281159" y="1901952"/>
            <a:ext cx="50292" cy="144475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464039" y="2011680"/>
            <a:ext cx="25146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47920"/>
                </a:solidFill>
                <a:latin typeface="Calibri"/>
              </a:rPr>
              <a:t>Tier 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464039" y="277063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Final Compliant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464039" y="3136392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Calibri"/>
              </a:rPr>
              <a:t>Entire Fleet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" y="3547872"/>
            <a:ext cx="11734495" cy="36576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8600" y="36576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7920"/>
                </a:solidFill>
                <a:latin typeface="Calibri"/>
              </a:rPr>
              <a:t>CLEAN ENERGY PATHWAYS AVAILABLE TODAY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28600" y="4133087"/>
            <a:ext cx="3767328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228600" y="4133087"/>
            <a:ext cx="50292" cy="914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1480" y="42245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⚡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14400" y="4206239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Hybrid Diesel + BESS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4571999"/>
            <a:ext cx="2944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Immediate fuel &amp; emissions reduction — no infrastructure change required.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33672" y="4133087"/>
            <a:ext cx="3767328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233672" y="4133087"/>
            <a:ext cx="50292" cy="914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16552" y="42245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☀️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19472" y="4206239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Solar + Storage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919472" y="4571999"/>
            <a:ext cx="2944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Integrate renewable generation into any temporary power architecture.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238744" y="4133087"/>
            <a:ext cx="3767328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238744" y="4133087"/>
            <a:ext cx="50292" cy="914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421624" y="4224527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🔋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24544" y="4206239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BESS Island Mode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24544" y="4571999"/>
            <a:ext cx="2944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Operate emission-free during grid outages or off-peak periods.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5157215"/>
            <a:ext cx="3767328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" y="5157215"/>
            <a:ext cx="50292" cy="914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11480" y="524865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⛽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14400" y="5230367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HVO Fuel Compatible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914400" y="5596127"/>
            <a:ext cx="2944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Compatible fleet for Hydrotreated Vegetable Oil — up to 90% lower CO₂.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233672" y="5157215"/>
            <a:ext cx="3767328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233672" y="5157215"/>
            <a:ext cx="50292" cy="914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416552" y="524865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📊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919472" y="5230367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Scope 3 Reporting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919472" y="5596127"/>
            <a:ext cx="2944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Full emissions quantification for ESG compliance documentation.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38744" y="5157215"/>
            <a:ext cx="3767328" cy="9144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8238744" y="5157215"/>
            <a:ext cx="50292" cy="9144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421624" y="5248655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🌿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924544" y="5230367"/>
            <a:ext cx="29443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Net-Zero Roadmapping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24544" y="5596127"/>
            <a:ext cx="29443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Calibri"/>
              </a:rPr>
              <a:t>Expert consultation for construction site decarbonization strategy.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COMPETITIVE DIFFERENTIATION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Why Sunbelt Rentals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Five reasons the nation's largest contractors choose us — every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" y="1773936"/>
            <a:ext cx="3858768" cy="2331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719072"/>
            <a:ext cx="385876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719072"/>
            <a:ext cx="385876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" y="1883664"/>
            <a:ext cx="457200" cy="4572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90195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188366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2103120"/>
            <a:ext cx="2944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National Scale
With Local Depth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2798064"/>
            <a:ext cx="352958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907792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950+ locations · locally embedded Power &amp; HVAC specialists · 24/7 emergency dispatch · pre-positioned inventory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88536" y="1773936"/>
            <a:ext cx="3858768" cy="2331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33672" y="1719072"/>
            <a:ext cx="385876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3672" y="1719072"/>
            <a:ext cx="385876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98264" y="1883664"/>
            <a:ext cx="457200" cy="4572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190195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188366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2103120"/>
            <a:ext cx="2944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Proprietary
Technology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8264" y="2798064"/>
            <a:ext cx="352958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8264" y="2907792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EMaaS™ · DEIF controller ecosystem · real-time telematics · load profiling analytics — no competitor matches this 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3608" y="1773936"/>
            <a:ext cx="3858768" cy="2331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38744" y="1719072"/>
            <a:ext cx="385876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38744" y="1719072"/>
            <a:ext cx="385876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03336" y="1883664"/>
            <a:ext cx="457200" cy="4572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03336" y="190195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88552" y="188366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88552" y="2103120"/>
            <a:ext cx="2944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N. America's
Largest BESS Fleet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03336" y="2798064"/>
            <a:ext cx="352958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03336" y="2907792"/>
            <a:ext cx="3529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Full range &lt;10kWh–750kWh+ · proven hybrid &amp; microgrid experience · deployable within 24–48 hours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" y="4315968"/>
            <a:ext cx="5870448" cy="2331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4261104"/>
            <a:ext cx="587044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" y="4261104"/>
            <a:ext cx="587044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3192" y="4425696"/>
            <a:ext cx="457200" cy="4572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" y="444398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" y="44256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" y="4645152"/>
            <a:ext cx="49560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Complete
Solution Design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" y="5340096"/>
            <a:ext cx="554126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3192" y="5449824"/>
            <a:ext cx="55412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Licensed engineers on staff · one-line schematics · full distribution design · single-vendor accountability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36792" y="4315968"/>
            <a:ext cx="5870448" cy="2331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1928" y="4261104"/>
            <a:ext cx="5870448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81928" y="4261104"/>
            <a:ext cx="587044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46520" y="4425696"/>
            <a:ext cx="457200" cy="45720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443984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47920"/>
                </a:solidFill>
                <a:latin typeface="Calibri"/>
              </a:rPr>
              <a:t>🏛️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31736" y="442569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920"/>
                </a:solidFill>
                <a:latin typeface="Calibri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1736" y="4645152"/>
            <a:ext cx="495604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Calibri"/>
              </a:rPr>
              <a:t>Ashtead Group
Enterprise Strength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5340096"/>
            <a:ext cx="5541264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5449824"/>
            <a:ext cx="554126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$26B global enterprise · investment-grade balance sheet · continuous fleet reinvestment · sustainability at scale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689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6094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4499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2903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1308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997135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81183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65231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49279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33327" y="137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6895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60943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44991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29039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13087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135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81183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65231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49279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3327" y="594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6895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60943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44991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29039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3087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97135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381183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65231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149279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533327" y="10515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6895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60943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44991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29039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613087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97135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81183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765231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149279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533327" y="15087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76895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60943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44991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29039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13087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97135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81183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65231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149279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533327" y="19659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76895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60943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844991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229039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613087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97135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381183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765231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149279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533327" y="24231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76895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60943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844991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229039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613087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997135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381183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65231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149279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533327" y="2880360"/>
            <a:ext cx="54864" cy="5486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600" y="2011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SECTOR APPLICATIONS  ·  BUILT FOR THE ENR 400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28600" y="548640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Every Major Construction Vertical. One Partner.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1261872"/>
            <a:ext cx="82296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8600" y="138988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0A0"/>
                </a:solidFill>
                <a:latin typeface="Calibri"/>
              </a:rPr>
              <a:t>Sunbelt delivers every project type a purpose-built energy strategy.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28600" y="1920240"/>
            <a:ext cx="3767328" cy="2084831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8600" y="1920240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3192" y="2029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1560" y="2011680"/>
            <a:ext cx="2807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COMMERCIAL
CONSTRUCTION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3192" y="272491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High-rise temporary power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3192" y="313639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Phased utility coordination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3192" y="354787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Tower crane &amp; elevator loads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33672" y="1920240"/>
            <a:ext cx="3767328" cy="2084831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233672" y="1920240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98264" y="2029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🏭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56632" y="2011680"/>
            <a:ext cx="2807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INDUSTRIAL &amp;
MANUFACTURING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98264" y="272491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Plant turnaround power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98264" y="313639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Process load management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98264" y="354787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High-inertia motor starts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38744" y="1920240"/>
            <a:ext cx="3767328" cy="2084831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38744" y="1920240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03336" y="2029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61704" y="2011680"/>
            <a:ext cx="2807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MISSION
CRITICAL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03336" y="272491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Hospital &amp; data center bridging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03336" y="313639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N+1 generator redundancy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03336" y="354787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Zero-interruption transitions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28600" y="4160520"/>
            <a:ext cx="3767328" cy="2084831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228600" y="4160520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93192" y="42702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🌉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51560" y="4251960"/>
            <a:ext cx="2807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HEAVY CIVIL &amp;
INFRASTRUCTURE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3192" y="496519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Remote site no-grid power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" y="537667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Tunnel &amp; underground work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3192" y="578815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Bridge &amp; highway lighting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233672" y="4160520"/>
            <a:ext cx="3767328" cy="2084831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233672" y="4160520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98264" y="42702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⚡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056632" y="4251960"/>
            <a:ext cx="2807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ENERGY &amp;
UTILITIES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398264" y="496519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Substation upgrade bridge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98264" y="537667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Renewable project laydown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398264" y="578815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Grid interconnect staging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238744" y="4160520"/>
            <a:ext cx="3767328" cy="2084831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8238744" y="4160520"/>
            <a:ext cx="3767328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403336" y="42702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alibri"/>
              </a:rPr>
              <a:t>🖥️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61704" y="4251960"/>
            <a:ext cx="28072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DATA CENTER
CONSTRUCTION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03336" y="496519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Hyperscale commissioning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403336" y="537667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Phased IT load energization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403336" y="5788152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0A0A0"/>
                </a:solidFill>
                <a:latin typeface="Calibri"/>
              </a:rPr>
              <a:t>▸  EMaaS™ proven — 82% fuel cut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01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47920"/>
                </a:solidFill>
                <a:latin typeface="Calibri"/>
              </a:rPr>
              <a:t>GETTING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117344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alibri"/>
              </a:rPr>
              <a:t>Your Path to EMaaS™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914400" cy="36576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17344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alibri"/>
              </a:rPr>
              <a:t>Five steps from first conversation to fully managed power ecosystem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547872"/>
            <a:ext cx="9875520" cy="45720"/>
          </a:xfrm>
          <a:prstGeom prst="rect">
            <a:avLst/>
          </a:prstGeom>
          <a:solidFill>
            <a:srgbClr val="FF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3464" y="1627632"/>
            <a:ext cx="2240280" cy="17190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572768"/>
            <a:ext cx="2240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572768"/>
            <a:ext cx="224028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8249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DISCOVERY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67128"/>
            <a:ext cx="19659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34440" y="3291840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3310128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32841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40" y="3785615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" y="4059936"/>
            <a:ext cx="2240280" cy="23591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005072"/>
            <a:ext cx="224028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142232"/>
            <a:ext cx="196596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30-min consultation with a solutions specialist. We learn your project profile, load requirements, and timeline — no commitment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6624" y="1627632"/>
            <a:ext cx="2240280" cy="17190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51760" y="1572768"/>
            <a:ext cx="2240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51760" y="1572768"/>
            <a:ext cx="224028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168249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SITE ASSESSMENT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2167128"/>
            <a:ext cx="19659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0" y="3291840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0" y="3310128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332841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3785615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06624" y="4059936"/>
            <a:ext cx="2240280" cy="23591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51760" y="4005072"/>
            <a:ext cx="224028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4142232"/>
            <a:ext cx="196596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Our engineers conduct a load study and site review at no charge. Actual demand profiling, peak analysis, and infrastructure review.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9784" y="1627632"/>
            <a:ext cx="2240280" cy="17190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74920" y="1572768"/>
            <a:ext cx="2240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74920" y="1572768"/>
            <a:ext cx="224028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0" y="168249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SOLUTION DESIGN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0" y="2167128"/>
            <a:ext cx="19659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80760" y="3291840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7880" y="3310128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332841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3785615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29784" y="4059936"/>
            <a:ext cx="2240280" cy="23591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74920" y="4005072"/>
            <a:ext cx="224028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12080" y="4142232"/>
            <a:ext cx="196596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Complete energy architecture proposal: equipment mix, schematics, EMaaS™ monitoring plan, and sustainability projections.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52943" y="1627632"/>
            <a:ext cx="2240280" cy="17190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79" y="1572768"/>
            <a:ext cx="2240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98079" y="1572768"/>
            <a:ext cx="224028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39" y="168249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DEPLOYMENT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35239" y="2167128"/>
            <a:ext cx="19659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503919" y="3291840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21039" y="3310128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21039" y="332841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19" y="3785615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52943" y="4059936"/>
            <a:ext cx="2240280" cy="23591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498079" y="4005072"/>
            <a:ext cx="224028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35239" y="4142232"/>
            <a:ext cx="196596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Factory-tested equipment delivered and commissioned by certified technicians. Full testing before go-live.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976104" y="1627632"/>
            <a:ext cx="2240280" cy="171907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21240" y="1572768"/>
            <a:ext cx="2240280" cy="17190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921240" y="1572768"/>
            <a:ext cx="224028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58400" y="1682496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MANAGED SERVICE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58400" y="2167128"/>
            <a:ext cx="1965960" cy="2743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927080" y="3291840"/>
            <a:ext cx="45720" cy="1645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44200" y="3310128"/>
            <a:ext cx="475488" cy="47548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44200" y="3328416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927080" y="3785615"/>
            <a:ext cx="45720" cy="201168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76104" y="4059936"/>
            <a:ext cx="2240280" cy="2359152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921240" y="4005072"/>
            <a:ext cx="2240280" cy="23591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058400" y="4142232"/>
            <a:ext cx="1965960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6B6B"/>
                </a:solidFill>
                <a:latin typeface="Calibri"/>
              </a:rPr>
              <a:t>24/7 monitoring, proactive optimization, regular performance reporting, and a dedicated account team — for the life of your project.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50292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96528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72016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47504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22992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698480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173968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49456" y="228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6528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72016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47504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22992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698480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73968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649456" y="685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72016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47504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22992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98480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73968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649456" y="1143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2104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96528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72016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47504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222992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698480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173968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649456" y="1600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2104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96528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72016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47504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22992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98480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173968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649456" y="2057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2104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96528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72016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747504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22992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698480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173968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649456" y="2514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2104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96528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272016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747504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22992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698480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73968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649456" y="2971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2104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796528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272016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747504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222992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698480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173968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1649456" y="3429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32104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796528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272016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47504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222992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698480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173968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649456" y="3886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2104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96528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272016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47504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222992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698480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173968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649456" y="43434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32104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796528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272016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47504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22992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698480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173968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649456" y="48006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2104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796528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272016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747504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222992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98480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173968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649456" y="52578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2104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796528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272016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747504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222992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698480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1173968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1649456" y="57150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32104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96528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272016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47504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222992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698480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1173968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1649456" y="6172200"/>
            <a:ext cx="64008" cy="6400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8600" y="256032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47920"/>
                </a:solidFill>
                <a:latin typeface="Calibri"/>
              </a:rPr>
              <a:t>SUNBELT RENTALS  ·  POWER &amp; HVAC DIVISION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28600" y="640080"/>
            <a:ext cx="4572000" cy="27432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28600" y="96012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Your Energy
Management
Partner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3337560"/>
            <a:ext cx="5029200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28600" y="3493008"/>
            <a:ext cx="749807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0A0A0"/>
                </a:solidFill>
                <a:latin typeface="Calibri"/>
              </a:rPr>
              <a:t>Let's engineer your project's energy future — together.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28600" y="422452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47920"/>
                </a:solidFill>
                <a:latin typeface="Calibri"/>
              </a:rPr>
              <a:t>🌐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13232" y="4270248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sunbeltrentals.com/power-hvac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28600" y="47000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47920"/>
                </a:solidFill>
                <a:latin typeface="Calibri"/>
              </a:rPr>
              <a:t>📞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13232" y="4745736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Power &amp; HVAC Division: 1-800-SUNBELT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28600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47920"/>
                </a:solidFill>
                <a:latin typeface="Calibri"/>
              </a:rPr>
              <a:t>📍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3232" y="5221224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0A0"/>
                </a:solidFill>
                <a:latin typeface="Calibri"/>
              </a:rPr>
              <a:t>950+ Locations — Find Your Nearest Expert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11312" y="2011680"/>
            <a:ext cx="38249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412480" y="2971800"/>
            <a:ext cx="3596335" cy="50292"/>
          </a:xfrm>
          <a:prstGeom prst="rect">
            <a:avLst/>
          </a:prstGeom>
          <a:solidFill>
            <a:srgbClr val="F479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211312" y="3127248"/>
            <a:ext cx="38249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A0A0"/>
                </a:solidFill>
                <a:latin typeface="Calibri"/>
              </a:rPr>
              <a:t>We welcome your questions
and look forward to exploring
how EMaaS™ can transform
your projects.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01168" y="6519672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A0"/>
                </a:solidFill>
                <a:latin typeface="Calibri"/>
              </a:rPr>
              <a:t>SUNBELT RENTALS  ·  POWER &amp; HVAC DIVISION  ·  ENERGY MANAGEMENT AS A SERVICE™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362895" y="6519672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A0A0A0"/>
                </a:solidFill>
                <a:latin typeface="Calibri"/>
              </a:rPr>
              <a:t>sunbeltrentals.com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