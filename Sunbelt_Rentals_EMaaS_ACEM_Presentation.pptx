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0"/>
            <a:ext cx="2864815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1828800" cy="685800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480000">
            <a:off x="8412480" y="0"/>
            <a:ext cx="822960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256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920"/>
                </a:solidFill>
                <a:latin typeface="Calibri"/>
              </a:rPr>
              <a:t>SUNBELT RENTALS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749808"/>
            <a:ext cx="457200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POWER &amp; HVAC DIVISION  |  ACEM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17320"/>
            <a:ext cx="8412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ENERGY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2860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47920"/>
                </a:solidFill>
                <a:latin typeface="Calibri"/>
              </a:rPr>
              <a:t>AS A SERVICE™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2918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7A7A"/>
                </a:solidFill>
                <a:latin typeface="Calibri"/>
              </a:rPr>
              <a:t>Powering Construction's Clean Energy Future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913632"/>
            <a:ext cx="50292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Presented to the Association of Construction Equipment Managers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A7A"/>
                </a:solidFill>
                <a:latin typeface="Calibri"/>
              </a:rPr>
              <a:t>30–50 of the Nation's Largest Construction Contractors  |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556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CONFIDENTIAL — FOR ACEM MEMBER USE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4556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Today's Briefing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Sunbelt Rentals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Scale, capabilities, and market leadership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65960"/>
            <a:ext cx="576072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2432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24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The Energy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What's keeping contractors up at 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64408"/>
            <a:ext cx="576072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22776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922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Complete Power &amp; HVAC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24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Generators • BESS • HVAC • Distribution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62856"/>
            <a:ext cx="576072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22122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221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212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Energy Management as a Service™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22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From transactional rental to managed ecosystem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61304"/>
            <a:ext cx="576072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1325880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Hybrid Power &amp; Microgrid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Combining generation, storage, and intelligence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1965960"/>
            <a:ext cx="557784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262432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624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624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Proven Results &amp; Case 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926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Real data from real construction sites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264408"/>
            <a:ext cx="557784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3922776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22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9227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Sustainability &amp; ESG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2245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Carbon reduction pathways for your projects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562856"/>
            <a:ext cx="557784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6520" y="522122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21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2212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Why Sunbelt Rentals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522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Differentiation, scale, and partnership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861304"/>
            <a:ext cx="5577840" cy="137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1261872"/>
            <a:ext cx="36576" cy="5413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SUNBELT RENTALS  | 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North America's Energy Rental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41148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7A"/>
                </a:solidFill>
                <a:latin typeface="Calibri"/>
              </a:rPr>
              <a:t>Built on four decades of equipment excellence — and now engineering
the future of intelligent, sustainable temporary power.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606040" cy="160020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60604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49631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950+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Locations Nationwide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U.S. &amp; Canada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331720"/>
            <a:ext cx="2606040" cy="160020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2331720"/>
            <a:ext cx="260604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49631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14,000+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Equipment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Comprehensive fleet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331720"/>
            <a:ext cx="2606040" cy="160020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2331720"/>
            <a:ext cx="260604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249631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Largest BESS Rental 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In North America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331720"/>
            <a:ext cx="3108960" cy="160020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2520" y="2331720"/>
            <a:ext cx="310896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2496312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40+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320040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Years of Innovation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35661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Founded 1983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33087"/>
            <a:ext cx="283464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24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Ashtead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53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Part of a $26B global enterprise with investment-grade balance sheet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133087"/>
            <a:ext cx="283464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224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24/7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553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Round-the-clock technical experts, remote monitoring &amp; dispatch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133087"/>
            <a:ext cx="283464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224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EMaaS™ Pioneer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53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Early adopter and market leader in managed energy ecosystems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133087"/>
            <a:ext cx="283464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224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DEIF Certified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553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Proprietary controller ecosystem for hybrid &amp; microgrid applications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ENERGY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Today's Largest Contractors Are Facing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88136"/>
            <a:ext cx="4114800" cy="542239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88136"/>
            <a:ext cx="109728" cy="54223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Stakes Have Never
Been Higher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7A"/>
                </a:solidFill>
                <a:latin typeface="Calibri"/>
              </a:rPr>
              <a:t>Construction's energy demands are
exploding while sustainability mandates
tighten and project complexity soars.
The gap between power need and
power strategy has never been wider.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22191"/>
            <a:ext cx="329184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931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7920"/>
                </a:solidFill>
                <a:latin typeface="Calibri"/>
              </a:rPr>
              <a:t>$8.3B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US Power Rental Market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663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7920"/>
                </a:solidFill>
                <a:latin typeface="Calibri"/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Projects face power capacity shortfalls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949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7920"/>
                </a:solidFill>
                <a:latin typeface="Calibri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Of generator runtime at inefficient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234440"/>
            <a:ext cx="754380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234440"/>
            <a:ext cx="54864" cy="9875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1D1B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3075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Unpredictable Power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655064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Loads fluctuate 5:1 between startup peaks and steady-state — legacy rental can't adapt in real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331720"/>
            <a:ext cx="7543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331720"/>
            <a:ext cx="54864" cy="9875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441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1D1B"/>
                </a:solidFill>
                <a:latin typeface="Calibri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4048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Fuel Cost &amp; Waste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752344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Diesel generators running at 20–40% capacity burn fuel at worst-case efficiency, inflating project budgets.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429000"/>
            <a:ext cx="754380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429000"/>
            <a:ext cx="54864" cy="9875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538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1D1B"/>
                </a:solidFill>
                <a:latin typeface="Calibri"/>
              </a:rPr>
              <a:t>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5021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ESG &amp; Carbon Mandates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849624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Owner-mandated Scope 3 emissions reporting places new accountability on power source decisions.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526279"/>
            <a:ext cx="7543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526279"/>
            <a:ext cx="54864" cy="9875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636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1D1B"/>
                </a:solidFill>
                <a:latin typeface="Calibri"/>
              </a:rPr>
              <a:t>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599431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Maintenance 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4946903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Multi-vendor equipment, inconsistent protocols, and 24/7 operations strain in-house technical teams.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5623560"/>
            <a:ext cx="754380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5623560"/>
            <a:ext cx="54864" cy="9875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733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D1D1B"/>
                </a:solidFill>
                <a:latin typeface="Calibri"/>
              </a:rPr>
              <a:t>🏗️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56967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Grid Infrastructure Gaps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6044184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Utility upgrades averaging 3–6 months force contractors into costly interim power solutions without a plan.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POWER &amp; HVAC PORTFOLIO  |  COMPLETE SOLUTIONS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One Partner. Complete Energy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7A"/>
                </a:solidFill>
                <a:latin typeface="Calibri"/>
              </a:rPr>
              <a:t>From a single generator to a fully orchestrated microgrid — engineered, monitored, and optimized by Sunbelt Rentals experts.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486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2743200" cy="448056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29968"/>
            <a:ext cx="27432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84832"/>
            <a:ext cx="2743200" cy="10058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⚡ POWER
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1455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2.5kW – 2,000kW+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511296"/>
            <a:ext cx="2514600" cy="228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602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Diesel &amp; gas generators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24281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Tier 4 Final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88289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Paralleling up to multi-MW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52297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Load banks &amp; accessories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029968"/>
            <a:ext cx="2743200" cy="448056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029968"/>
            <a:ext cx="27432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084832"/>
            <a:ext cx="2743200" cy="10058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2121408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🔋 BATTERY ENERGY
STORAGE (BESS)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1455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&lt;10kWh – 750kWh+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3511296"/>
            <a:ext cx="2514600" cy="228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3602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Trailer-mounted &amp; skid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24281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Hybrid generator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488289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Island mode operation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552297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Grid synchronization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029968"/>
            <a:ext cx="2743200" cy="448056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029968"/>
            <a:ext cx="27432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084832"/>
            <a:ext cx="2743200" cy="10058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121408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❄️ HVAC &amp;
CLIMATE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1455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7.5-Ton to 500-Ton+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511296"/>
            <a:ext cx="2514600" cy="228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602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Air conditioning &amp; chillers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424281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Heating (electric/direct/indirect)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88289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Dehumidifiers &amp; air scrubbers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52297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Cooling towers &amp; air handlers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2029968"/>
            <a:ext cx="2743200" cy="448056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2029968"/>
            <a:ext cx="27432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2084832"/>
            <a:ext cx="2743200" cy="10058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90888" y="2121408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🔌 POWER
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1455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Full System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90888" y="3511296"/>
            <a:ext cx="2514600" cy="228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3602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Transformers &amp; switchgear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424281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Distribution panels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488289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Transfer switches (ATS/MTS)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552297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One-line schematic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POWER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Diesel &amp; Gas Generator Fleet — 2.5kW to 2,000kW+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Calibri"/>
              </a:rPr>
              <a:t>The most comprehensive temporary generation fleet in North America — Tier 4 Final compliant, paralleling-ready, and EMaaS™ integrated.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240280" cy="44805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22402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2240280" cy="71323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2468880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328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2.5 – 10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127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Gas-powered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Job-site convenience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3708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Tool &amp; lighting 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664208"/>
            <a:ext cx="2240280" cy="44805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664208"/>
            <a:ext cx="22402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1719072"/>
            <a:ext cx="2240280" cy="71323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7208" y="2468880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25328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20 – 60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127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Diesel Tier 4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Small commercial sites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43708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Construction trailers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664208"/>
            <a:ext cx="2240280" cy="44805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1664208"/>
            <a:ext cx="22402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1719072"/>
            <a:ext cx="2240280" cy="71323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4648" y="2468880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25328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100 – 350 kW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127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Sound-attenuated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Single-building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648" y="43708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Critical load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1664208"/>
            <a:ext cx="2240280" cy="44805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2360" y="1664208"/>
            <a:ext cx="22402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1719072"/>
            <a:ext cx="2240280" cy="71323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2088" y="2468880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2088" y="25328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400 – 800 kW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3127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Paralleling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Large campus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43708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Hospitals &amp; data centers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1664208"/>
            <a:ext cx="2240280" cy="44805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29800" y="1664208"/>
            <a:ext cx="22402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9800" y="1719072"/>
            <a:ext cx="2240280" cy="71323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952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39528" y="2468880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9528" y="25328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1,000 – 2,000kW+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3127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Multi-unit paralleling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9528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Grid-scale temporary power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9528" y="43708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Mission-critical applications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291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Calibri"/>
              </a:rPr>
              <a:t>✔  Tier 4 Final Compliant Fleet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97480" y="6291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Calibri"/>
              </a:rPr>
              <a:t>✔  Parallel Generator Configurations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6291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Calibri"/>
              </a:rPr>
              <a:t>✔  Automated Transfer Switches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6291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Calibri"/>
              </a:rPr>
              <a:t>✔  24/7 Remote Telematics Monitoring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6291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Calibri"/>
              </a:rPr>
              <a:t>✔  DEIF Controller Ecosystem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BATTERY ENERGY STORAGE SYSTEMS  |  NORTH AMERICA'S LARGEST BESS RENTAL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Store. Dispatch. Optimize.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A7A"/>
                </a:solidFill>
                <a:latin typeface="Calibri"/>
              </a:rPr>
              <a:t>From load-leveling a single generator to anchoring a multi-MW microgrid — BESS transforms how construction sites consume energy.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78892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78892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75104"/>
            <a:ext cx="2788920" cy="96012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&lt;10 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AD2"/>
                </a:solidFill>
                <a:latin typeface="Calibri"/>
              </a:rPr>
              <a:t>Compact 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99923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154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Portable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8679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Tool &amp; lighting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5811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Fast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2943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Standalone operation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920240"/>
            <a:ext cx="278892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920240"/>
            <a:ext cx="278892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975104"/>
            <a:ext cx="2788920" cy="96012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80–100 kWh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AD2"/>
                </a:solidFill>
                <a:latin typeface="Calibri"/>
              </a:rPr>
              <a:t>Standard Mobile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299923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3154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Trailer-mounted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8679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Single generator pairing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5811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Construction trailers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52943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Medium load leveling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920240"/>
            <a:ext cx="278892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920240"/>
            <a:ext cx="278892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975104"/>
            <a:ext cx="2788920" cy="96012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100–300 kWh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AD2"/>
                </a:solidFill>
                <a:latin typeface="Calibri"/>
              </a:rPr>
              <a:t>High Capacity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299923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154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Multiple generator 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8679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Large-site load leveling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45811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Island mode capable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2943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Grid synchronization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1920240"/>
            <a:ext cx="278892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1920240"/>
            <a:ext cx="278892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1975104"/>
            <a:ext cx="2788920" cy="96012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0888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500–750 kWh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2578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AD2"/>
                </a:solidFill>
                <a:latin typeface="Calibri"/>
              </a:rPr>
              <a:t>Industrial Scale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90888" y="299923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0888" y="3154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Mission-critical backup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38679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Data center bridging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45811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Multi-unit paralleling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52943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▸  Microgrid anchor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419088"/>
            <a:ext cx="114300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HVAC &amp; CLIMATE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Complete Thermal Management — 7.5-Ton to 500-Ton+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88136"/>
            <a:ext cx="3566160" cy="542239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88136"/>
            <a:ext cx="109728" cy="54223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Full Thermal
Solutions for
Any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42032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7A"/>
                </a:solidFill>
                <a:latin typeface="Calibri"/>
              </a:rPr>
              <a:t>Whether it's climate-critical
construction, emergency heat relief,
or dehumidification for restoration —
Sunbelt's HVAC fleet covers every BTU.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005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135-Ton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0782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Largest portable AC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09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500-Ton+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8828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Chiller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6144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7920"/>
                </a:solidFill>
                <a:latin typeface="Calibr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687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Climate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170432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1170432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1234440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❄️  AIR CONDITIONING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7.5–135 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2249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Portable &amp; trailer-mounted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27066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Spot coolers &amp; packaged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3163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Ductable configurations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1170432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1170432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1234440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🧊  CHILLERS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10–500+ 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2249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Air-cooled &amp; water-cooled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27066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Process cooling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63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High-precision temperature ctrl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1170432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12680" y="1170432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680" y="1234440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🔥  HEATING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1856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All Fuels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2408" y="2249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Electric, direct &amp; indirect fired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2408" y="27066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Hydronic heating systems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163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High-output portable heaters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3977639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94760" y="3977639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041647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04488" y="408736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💨  VENTILATION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4488" y="46634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Industrial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0566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Axial &amp; centrifugal fans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4488" y="5513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Confined space solutions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4488" y="59710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Smoke &amp; fume extraction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3977639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03720" y="3977639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03720" y="4041647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13448" y="408736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💧  DEHUMIDIFICATION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3448" y="46634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Commercial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13448" y="50566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Construction &amp; restoration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5513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Moisture-critical environments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3448" y="59710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Large-scale drying systems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12680" y="3977639"/>
            <a:ext cx="2880360" cy="25786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12680" y="3977639"/>
            <a:ext cx="288036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12680" y="4041647"/>
            <a:ext cx="2880360" cy="5669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22408" y="408736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🌀  AIR HANDLERS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2408" y="46634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Custom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22408" y="50566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Filtered fresh air systems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22408" y="55138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Air quality management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22408" y="59710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▸  Makeup air applications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7920"/>
                </a:solidFill>
                <a:latin typeface="Calibri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Energy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80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47920"/>
                </a:solidFill>
                <a:latin typeface="Calibri"/>
              </a:rPr>
              <a:t>as a Service™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58768"/>
            <a:ext cx="50292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00507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A7A7A"/>
                </a:solidFill>
                <a:latin typeface="Calibri"/>
              </a:rPr>
              <a:t>From reactive equipment rental to a fully managed,
data-driven power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EMaaS™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DEAD2"/>
                </a:solidFill>
                <a:latin typeface="Calibri"/>
              </a:rPr>
              <a:t>A proprietary
Sunbelt Rentals
managed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55664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EMaaS™?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Energy Management as a Service — Redefining Temporary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100584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82296" cy="10058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EMaaS™ treats temporary power as a complete managed ecosystem — monitored, optimized, and
actively adjusted to meet operational requirements as they change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TRADITIONAL RENTAL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395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D4D4D"/>
                </a:solidFill>
                <a:latin typeface="Calibri"/>
              </a:rPr>
              <a:t>vs.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957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Calibri"/>
              </a:rPr>
              <a:t>EMaaS™ BY SUNBELT RENTALS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52928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443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Reactive — equipment deployed and forgotten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852928"/>
            <a:ext cx="5166360" cy="530352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443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Proactive — continuous monitoring &amp;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47288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38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One-size-fits-all generator sizing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447288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3872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Load profiling → right-sized 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41648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330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Fuel cost is a fixed operating expense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4041648"/>
            <a:ext cx="5166360" cy="530352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13308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Active fuel management with BESS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36008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274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Maintenance on failure or fixed schedule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4636008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72744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Predictive maintenance via real-time 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30368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218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Multiple vendors, fragmented accountability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5230368"/>
            <a:ext cx="5166360" cy="530352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532180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Single partner, end-to-end responsibility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824728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161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0000"/>
                </a:solidFill>
                <a:latin typeface="Calibri"/>
              </a:rPr>
              <a:t>✘  No visibility into performance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5824728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59161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B"/>
                </a:solidFill>
                <a:latin typeface="Calibri"/>
              </a:rPr>
              <a:t>✔  Real-time dashboards &amp; performance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2852928"/>
            <a:ext cx="1371600" cy="35661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EMaaS™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Four-Stage Managed Power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515600" cy="54864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99032" y="29718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3246120"/>
            <a:ext cx="1828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1D1B"/>
                </a:solidFill>
                <a:latin typeface="Calibri"/>
              </a:rPr>
              <a:t>ASSESS
&amp;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957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Load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16352"/>
            <a:ext cx="251460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2514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We analyze your actual power demand patterns — not estimated peaks — to understand load profiles, demand cycles, voltage requirements, and efficiency opportunities.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417320"/>
            <a:ext cx="278892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41732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29718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246120"/>
            <a:ext cx="1828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5727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1D1B"/>
                </a:solidFill>
                <a:latin typeface="Calibri"/>
              </a:rPr>
              <a:t>DESIGN
&amp;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3957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Right-Sized 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816352"/>
            <a:ext cx="251460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730752"/>
            <a:ext cx="2514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Our engineers develop a complete energy architecture: generator sizing, BESS integration, distribution design, transfer schemes, and redundancy — all documented with one-line schematics.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17320"/>
            <a:ext cx="278892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2632" y="29718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2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246120"/>
            <a:ext cx="18288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5727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1D1B"/>
                </a:solidFill>
                <a:latin typeface="Calibri"/>
              </a:rPr>
              <a:t>DEPLOY
&amp; INTEGRATE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957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Expert Installation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16352"/>
            <a:ext cx="251460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30752"/>
            <a:ext cx="2514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Factory-tested equipment delivered and commissioned by certified Power &amp; HVAC technicians. Full system testing, paralleling configuration, and grid synchronization where required.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417320"/>
            <a:ext cx="278892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41732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14432" y="29718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4432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5727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1D1B"/>
                </a:solidFill>
                <a:latin typeface="Calibri"/>
              </a:rPr>
              <a:t>MONITOR
&amp; OPTIMIZE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957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Continuous Intelligence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2816352"/>
            <a:ext cx="251460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730752"/>
            <a:ext cx="2514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24/7 telematics monitoring via DEIF controllers tracks fuel, load, voltage, frequency, and efficiency. Machine intelligence handles routine optimization; specialists manage complexity.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419088"/>
            <a:ext cx="1152144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TECHNOLOGY &amp; INTELLIGENCE PLATFORM  |  THE INFRASTRUCTURE BEHIND EMaaS™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Powered by Data. Managed by Experts.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A7A"/>
                </a:solidFill>
                <a:latin typeface="Calibri"/>
              </a:rPr>
              <a:t>Sunbelt Rentals' proprietary technology stack enables real-time visibility, predictive intelligence, and active optimization across every asset.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788920" cy="44622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2788920" cy="7772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DEIF CONTROLLER
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81635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077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AGC-4 Mk II — daily fleet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AGC-150 — generator &amp; BESS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41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TDU107 — touch display co-developed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6085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Consistent across entire rental fleet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1755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Parallel &amp; island mode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742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Tier 4 Final emission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920240"/>
            <a:ext cx="2788920" cy="44622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92024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984248"/>
            <a:ext cx="2788920" cy="7772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2029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REAL-TIME
TELEMATICS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281635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29077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Continuous fuel consumption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Load demand &amp; efficiency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041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Voltage stability &amp; frequency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46085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Predictive maintenance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51755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Remote load management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5742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24/7 NOC visibility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920240"/>
            <a:ext cx="2788920" cy="44622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92024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984248"/>
            <a:ext cx="2788920" cy="7772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029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LOAD PROFILING
&amp;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281635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9077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Actual vs. estimated demand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Peak/off-peak pattern identification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41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Right-sizing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085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Efficiency opportunity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1755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Fuel savings quantification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742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Carbon reduction modeling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1920240"/>
            <a:ext cx="2788920" cy="44622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81160" y="1920240"/>
            <a:ext cx="278892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60" y="1984248"/>
            <a:ext cx="2788920" cy="7772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0888" y="2029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REPORTING
&amp; INTELLIGENCE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90888" y="2816352"/>
            <a:ext cx="256032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90888" y="29077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Customer-facing performance dashboards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Fuel consumption &amp; cost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4041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Emissions &amp; carbon footprint 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90888" y="46085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Maintenance event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0888" y="51755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SLA compliance documentation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0888" y="5742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ESG reporting support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HYBRID POWER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Generator + BESS Integration — Smarter. Cleaner. More Efficient.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Calibri"/>
              </a:rPr>
              <a:t>Hybrid systems combine diesel generation with battery storage to reduce runtime, fuel consumption, and emissions — without compromising reliability.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2743200" cy="192024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647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0428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2F2"/>
                </a:solidFill>
                <a:latin typeface="Calibri"/>
              </a:rPr>
              <a:t>2.5kW – 2,000kW+
Tier 4 Final Compliant
DEIF Controller Equipped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18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7920"/>
                </a:solidFill>
                <a:latin typeface="Calibri"/>
              </a:rPr>
              <a:t>PRIMARY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514600"/>
            <a:ext cx="6858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0487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719072"/>
            <a:ext cx="2743200" cy="1920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8105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🔄 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33172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DEIF AGC-150
Load Demand Sensing
Auto Source Switching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18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1D1B"/>
                </a:solidFill>
                <a:latin typeface="Calibri"/>
              </a:rPr>
              <a:t>ACTIVE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514600"/>
            <a:ext cx="6858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40487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1719072"/>
            <a:ext cx="2743200" cy="192024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171907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7647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🔋  BESS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0428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2F2"/>
                </a:solidFill>
                <a:latin typeface="Calibri"/>
              </a:rPr>
              <a:t>&lt;10kWh – 750kWh
Trailer or Skid-Mounted
Parallel Capable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218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7920"/>
                </a:solidFill>
                <a:latin typeface="Calibri"/>
              </a:rPr>
              <a:t>ENERGY RESERVOIR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514600"/>
            <a:ext cx="6858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40487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1719072"/>
            <a:ext cx="1463040" cy="192024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1874519"/>
            <a:ext cx="1463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🏗️
SITE
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8587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HOW IT 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24528"/>
            <a:ext cx="562356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34340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Calibri"/>
              </a:rPr>
              <a:t>1.  Generator runs → charges BESS while powering the 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818888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Calibri"/>
              </a:rPr>
              <a:t>2.  Generator shuts down → BESS supplies the load seamlessly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294376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Calibri"/>
              </a:rPr>
              <a:t>3.  When load exceeds BESS capacity → generator restarts automatically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769864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Calibri"/>
              </a:rPr>
              <a:t>4.  DEIF controller manages all switching — zero manual intervention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PROVEN HYBRID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24528"/>
            <a:ext cx="5486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3708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4074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Reduction in diesel fuel consumption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00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34,026 gal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8371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Fuel saved (6-month data center project)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303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2669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Preventive maintenance calls eliminated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6601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$43,521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6967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Maintenance cost savings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0899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120 tons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61264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Calibri"/>
              </a:rPr>
              <a:t>CO₂e emissions avoided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MICROGRID SOLUTIONS  |  COMPLETE ISLAND-MODE POWER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Temporary Microgrids for the Most Demanding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A7A"/>
                </a:solidFill>
                <a:latin typeface="Calibri"/>
              </a:rPr>
              <a:t>When grid access is unavailable, unreliable, or insufficient — Sunbelt engineers a complete independent power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24028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GENERATION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127248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Multiple parallel generators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9593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Up to multi-MW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67258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Automatic load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3858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N+1 redundancy designs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920240"/>
            <a:ext cx="224028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920240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STORAGE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3127248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BESS units in parallel arrays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39593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Peak shaving &amp; load leveling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467258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Seamless source transition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53858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Configurable depth of discharge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1920240"/>
            <a:ext cx="224028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1920240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DISTRIBUTION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3127248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0368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MV/LV transformer stations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593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Automated transfer schemes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467258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Switchgear &amp; protection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53858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Metering &amp; sub-metering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1920240"/>
            <a:ext cx="224028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0" y="1920240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RENEWABLE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07808" y="3127248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Solar PV synchronization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39593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Wind energy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467258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Fuel cell ready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53858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Net-zero pathway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1920240"/>
            <a:ext cx="2240280" cy="443484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75520" y="1920240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248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CONTROL LAYER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85248" y="3127248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85248" y="3246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DEIF master controller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39593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Remote SCADA visibility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5248" y="467258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Demand response capability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85248" y="53858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Grid reconnection protocols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CASE STUDY: HYPERSCALE DATA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Hybrid BESS + Generator System — 6-Month Construction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88136"/>
            <a:ext cx="4206240" cy="542239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88136"/>
            <a:ext cx="109728" cy="54223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98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190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Client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719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Hyperscale Data Center 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774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Duration: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377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6-Month Construction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3580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Solution: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035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Hybrid BESS + Generator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941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Architecture: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6941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15 Parallel Generators + BESS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3525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Operation: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3525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BESS as primary source; generators 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1091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Monitoring: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501091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24/7 EMaaS™ real-time telematics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48640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  <a:latin typeface="Calibri"/>
              </a:rPr>
              <a:t>"The BESS served as the primary power
source with generators engaging only
when loads exceeded battery capacity
or during recharge cycles."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088136"/>
            <a:ext cx="36576" cy="54223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2344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MEASURED OUTCOMES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691640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1691640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783080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5973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Fuel Consumption
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880360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vs. conventional generator-only setup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1691640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1691640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1783080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34,026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45973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Gallons of Diesel
NOT Burned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2880360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Across the 6-month construction phase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3456432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3456432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547872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130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224528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Preventive Maintenance
Services Eliminated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645152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Freeing crews for higher-value 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3456432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3456432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3547872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$43,521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224528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Maintenance Cost
Savings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645152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Direct budget impact — documented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230368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34840" y="5230368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5321808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120 Tons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998464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CO₂e Emissions
Avoided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190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Toward owner sustainability targets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5230368"/>
            <a:ext cx="3127248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8120" y="5230368"/>
            <a:ext cx="3127248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0" y="5321808"/>
            <a:ext cx="2852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5:1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5998464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B"/>
                </a:solidFill>
                <a:latin typeface="Calibri"/>
              </a:rPr>
              <a:t>Load Flexibility
Ratio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0" y="64190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Calibri"/>
              </a:rPr>
              <a:t>1,000A startup → 200A steady state managed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SUSTAINABILITY &amp; ESG IMPACT  |  MEASURABLE PATHWAYS TO NET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Your ESG Goals. Our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A7A"/>
                </a:solidFill>
                <a:latin typeface="Calibri"/>
              </a:rPr>
              <a:t>Sunbelt Rentals delivers measurable carbon reduction — not promises. Every EMaaS™ deployment is tracked, quantified, and reportable.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01952"/>
            <a:ext cx="2743200" cy="178308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 Fuel
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Documented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01952"/>
            <a:ext cx="2743200" cy="178308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0195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120T+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980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CO₂e Saved
Per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Reportable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01952"/>
            <a:ext cx="2743200" cy="178308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90195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980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BESS Fleet
N. America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Proven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901952"/>
            <a:ext cx="2743200" cy="1783080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901952"/>
            <a:ext cx="27432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011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7920"/>
                </a:solidFill>
                <a:latin typeface="Calibri"/>
              </a:rPr>
              <a:t>Tier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980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Final
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Entire Fleet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22191"/>
            <a:ext cx="114300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920"/>
                </a:solidFill>
                <a:latin typeface="Calibri"/>
              </a:rPr>
              <a:t>CLEAN ENERGY PATHWAYS AVAILABLE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07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⚡ Hybrid Diesel + BESS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Reduce runtime &amp; emissions immediately with zero infrastructure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07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☀️ Solar +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Integrate renewable generation into your temporary power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065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🔋 BESS Island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065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Operate emission-free during grid outages or off-peak periods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65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⛽ HVO Fuel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065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Compatible fleet for Hydrotreated Vegetable Oil — 90% lower lifecycle CO₂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724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📊 Carbon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5724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Full emissions quantification for Scope 3 compliance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24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🌿 Net-Zero Roadmapping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5724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Expert consultation for construction site decarbonization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SUNBELT RENTALS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Five Reasons the Nation's Top Contractors Choose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Calibri"/>
              </a:rPr>
              <a:t>When the stakes are highest — mission-critical power, aggressive sustainability targets, complex logistics — these are the differentiators that matter.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240280" cy="484632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828800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NATIONAL SCALE
WITH LOCAL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505456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6243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950+ locations across North America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46557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Power &amp; HVAC specialists embedded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30682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24/7 emergency dispatch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14807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Inventory pre-positioned for rapid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664208"/>
            <a:ext cx="2240280" cy="484632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1664208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07208" y="1828800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828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PROPRIETARY
TECHNOLOGY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7208" y="2505456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26243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EMaaS™ — managed power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346557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DEIF controller standardization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430682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Real-time telematics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514807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Load profiling &amp; optimization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1664208"/>
            <a:ext cx="2240280" cy="484632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74920" y="1664208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84648" y="1828800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1828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ONE OF N. AMERICA'S
LARGEST BESS FLEETS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505456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8" y="26243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Full range &lt;10kWh to 750kWh+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346557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Hybrid &amp; microgrid proven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430682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Island mode &amp; grid-sync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514807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Deployable within 24–48 hours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1664208"/>
            <a:ext cx="2240280" cy="484632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1664208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62088" y="1828800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6208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828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COMPLETE
SOLUTION DESIGN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2088" y="2505456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26243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Licensed engineers on staff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46557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One-line schematic development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8" y="430682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Full distribution design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514807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Single vendor accountability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1664208"/>
            <a:ext cx="2240280" cy="484632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29800" y="1664208"/>
            <a:ext cx="224028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39528" y="1828800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3952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1828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ASHTEAD GROUP
BACKING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39528" y="2505456"/>
            <a:ext cx="201168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9528" y="26243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$26B global enterprise strength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9528" y="346557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Investment-grade balance sheet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9528" y="430682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Continuous fleet reinvestment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514807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alibri"/>
              </a:rPr>
              <a:t>▸  Sustainability commitments at scale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CONSTRUCTION SECTOR APPLICATIONS  |  BUILT FOR YOUR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Engineered for the ENR 400's Most Complex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7A"/>
                </a:solidFill>
                <a:latin typeface="Calibri"/>
              </a:rPr>
              <a:t>From vertical high-rise to horizontal infrastructure — every project type demands a different energy strategy. Sunbelt delivers all of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4825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COMMERCIAL
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Temporary power for high-rise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Phased utility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Tower crane &amp; elevator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12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HVAC for occupied-adjacent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938528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938528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48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4825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INDUSTRIAL &amp;
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70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Plant shutdown &amp; turnaround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Process load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High-inertia motor start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12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Continuous production backup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938528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938528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048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04825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MISSION CRITICAL
&amp;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670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Hospital &amp; data center bridging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N+1 generator redundancy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Zero-interruption transitions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712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Life safety load prioritization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61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36168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HEAVY CIVIL &amp;
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Remote site power with no grid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Tunnel &amp; underground construction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784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Bridge &amp; highway lighting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0258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Multi-phase project power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4251960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4251960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361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36168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ENERGY &amp;
UTILITIES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Substation upgrade bridge power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Transmission line construction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6784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Renewable project laydown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60258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Grid interconnection staging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251960"/>
            <a:ext cx="3657600" cy="221284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4251960"/>
            <a:ext cx="365760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361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920"/>
                </a:solidFill>
                <a:latin typeface="Calibri"/>
              </a:rPr>
              <a:t>🏗️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36168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CENTER
CONSTRUCTION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Hyperscale commissioning power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5330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Phased IT load energization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56784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EMaaS™ fuel optimization proven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60258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2F2"/>
                </a:solidFill>
                <a:latin typeface="Calibri"/>
              </a:rPr>
              <a:t>▸  Critical infrastructure bridging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GETTING STARTED WITH EMaaS™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Pathway to Managed Energy 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Calibri"/>
              </a:rPr>
              <a:t>Transitioning from transactional rental to a managed energy partnership is straightforward — here's the Sunbelt Rentals onboarding journey.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77639"/>
            <a:ext cx="1124712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36576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19072"/>
            <a:ext cx="2148840" cy="17830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719072"/>
            <a:ext cx="214884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288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DISCOVERY
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502152"/>
            <a:ext cx="36576" cy="1554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407408"/>
            <a:ext cx="2148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2148840" cy="64008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44568"/>
            <a:ext cx="1920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30-minute consultation with a Power &amp; HVAC solutions specialist to understand your project profile, timeline, and power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6576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719072"/>
            <a:ext cx="2148840" cy="17830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1719072"/>
            <a:ext cx="214884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18288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SITE ASSESSMENT
&amp; LOAD STUDY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502152"/>
            <a:ext cx="36576" cy="1554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4407408"/>
            <a:ext cx="2148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4407408"/>
            <a:ext cx="2148840" cy="64008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8" y="4544568"/>
            <a:ext cx="1920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Our engineers conduct a detailed load analysis — actual demand profiling, peak identification, and infrastructure review — at no charge.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6576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1719072"/>
            <a:ext cx="2148840" cy="17830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0" y="1719072"/>
            <a:ext cx="214884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18288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SOLUTION
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502152"/>
            <a:ext cx="36576" cy="1554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4407408"/>
            <a:ext cx="2148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4407408"/>
            <a:ext cx="2148840" cy="64008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3248" y="4544568"/>
            <a:ext cx="1920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Receive a complete energy architecture proposal: equipment mix, one-line schematics, EMaaS™ monitoring plan, and sustainability projections.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6576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1719072"/>
            <a:ext cx="2148840" cy="17830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1719072"/>
            <a:ext cx="214884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0688" y="18288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DEPLOYMENT
&amp; COMMISSIONING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502152"/>
            <a:ext cx="36576" cy="1554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4407408"/>
            <a:ext cx="2148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4407408"/>
            <a:ext cx="2148840" cy="64008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0688" y="4544568"/>
            <a:ext cx="1920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Factory-tested equipment delivered and installed by certified technicians. Full parallel and integration testing before go-live.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27080" y="3657600"/>
            <a:ext cx="640080" cy="6400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2708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1719072"/>
            <a:ext cx="2148840" cy="17830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0" y="1719072"/>
            <a:ext cx="2148840" cy="6400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182880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ONGOING
MANAGEMENT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47120" y="3502152"/>
            <a:ext cx="36576" cy="1554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4407408"/>
            <a:ext cx="2148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58400" y="4407408"/>
            <a:ext cx="2148840" cy="64008"/>
          </a:xfrm>
          <a:prstGeom prst="rect">
            <a:avLst/>
          </a:prstGeom>
          <a:solidFill>
            <a:srgbClr val="FD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68128" y="4544568"/>
            <a:ext cx="1920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Calibri"/>
              </a:rPr>
              <a:t>24/7 monitoring, proactive optimization, regular performance reporting, and a dedicated account team throughout your project lifecycle.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400800"/>
            <a:ext cx="1152144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47104"/>
            <a:ext cx="1164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SUNBELT RENTALS  |  POWER &amp; HVAC DIVISION  |  ENERGY MANAGEMENT AS A SERVICE™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Calibri"/>
              </a:rPr>
              <a:t>SUNBELT RENTALS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10512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Your Energy
Management
Partner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224528"/>
            <a:ext cx="5943600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370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7A7A"/>
                </a:solidFill>
                <a:latin typeface="Calibri"/>
              </a:rPr>
              <a:t>Let's design your site's energy future —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9560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7920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7433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sunbeltrentals.com/power-hvac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367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7920"/>
                </a:solidFill>
                <a:latin typeface="Calibri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858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Power &amp; HVAC Division: 1-800-SUNBELT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7790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7920"/>
                </a:solidFill>
                <a:latin typeface="Calibri"/>
              </a:rPr>
              <a:t>✉️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79729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powerandhvac@sunbeltrentals.com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190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7920"/>
                </a:solidFill>
                <a:latin typeface="Calibri"/>
              </a:rPr>
              <a:t>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620877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950+ Locations Nationwide — Find Your Local Expert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Q&amp;A
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520440"/>
            <a:ext cx="2926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657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DEAD2"/>
                </a:solidFill>
                <a:latin typeface="Calibri"/>
              </a:rPr>
              <a:t>We welcome your
questions and look
forward to exploring
how EMaaS™ can
transform your projects.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4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55664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ASSOCIATION OF CONSTRUCTION EQUIPMENT MANAGERS  |  ACEM EXECUTIVE BRIEFING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